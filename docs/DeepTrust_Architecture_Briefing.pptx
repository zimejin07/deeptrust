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0"/>
            <a:ext cx="18288" cy="5143500"/>
          </a:xfrm>
          <a:prstGeom prst="rect">
            <a:avLst/>
          </a:prstGeom>
          <a:solidFill>
            <a:srgbClr val="1A3A6B">
              <a:alpha val="30000"/>
            </a:srgbClr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0"/>
            <a:ext cx="18288" cy="5143500"/>
          </a:xfrm>
          <a:prstGeom prst="rect">
            <a:avLst/>
          </a:prstGeom>
          <a:solidFill>
            <a:srgbClr val="1A3A6B">
              <a:alpha val="30000"/>
            </a:srgbClr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80160" y="0"/>
            <a:ext cx="18288" cy="5143500"/>
          </a:xfrm>
          <a:prstGeom prst="rect">
            <a:avLst/>
          </a:prstGeom>
          <a:solidFill>
            <a:srgbClr val="1A3A6B">
              <a:alpha val="30000"/>
            </a:srgbClr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48840" y="0"/>
            <a:ext cx="18288" cy="5143500"/>
          </a:xfrm>
          <a:prstGeom prst="rect">
            <a:avLst/>
          </a:prstGeom>
          <a:solidFill>
            <a:srgbClr val="1A3A6B">
              <a:alpha val="30000"/>
            </a:srgbClr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017520" y="0"/>
            <a:ext cx="18288" cy="5143500"/>
          </a:xfrm>
          <a:prstGeom prst="rect">
            <a:avLst/>
          </a:prstGeom>
          <a:solidFill>
            <a:srgbClr val="1A3A6B">
              <a:alpha val="30000"/>
            </a:srgbClr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86200" y="0"/>
            <a:ext cx="18288" cy="5143500"/>
          </a:xfrm>
          <a:prstGeom prst="rect">
            <a:avLst/>
          </a:prstGeom>
          <a:solidFill>
            <a:srgbClr val="1A3A6B">
              <a:alpha val="30000"/>
            </a:srgbClr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0"/>
            <a:ext cx="18288" cy="5143500"/>
          </a:xfrm>
          <a:prstGeom prst="rect">
            <a:avLst/>
          </a:prstGeom>
          <a:solidFill>
            <a:srgbClr val="1A3A6B">
              <a:alpha val="30000"/>
            </a:srgbClr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23560" y="0"/>
            <a:ext cx="18288" cy="5143500"/>
          </a:xfrm>
          <a:prstGeom prst="rect">
            <a:avLst/>
          </a:prstGeom>
          <a:solidFill>
            <a:srgbClr val="1A3A6B">
              <a:alpha val="30000"/>
            </a:srgbClr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0"/>
            <a:ext cx="18288" cy="5143500"/>
          </a:xfrm>
          <a:prstGeom prst="rect">
            <a:avLst/>
          </a:prstGeom>
          <a:solidFill>
            <a:srgbClr val="1A3A6B">
              <a:alpha val="30000"/>
            </a:srgbClr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60920" y="0"/>
            <a:ext cx="18288" cy="5143500"/>
          </a:xfrm>
          <a:prstGeom prst="rect">
            <a:avLst/>
          </a:prstGeom>
          <a:solidFill>
            <a:srgbClr val="1A3A6B">
              <a:alpha val="30000"/>
            </a:srgbClr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0" y="0"/>
            <a:ext cx="18288" cy="5143500"/>
          </a:xfrm>
          <a:prstGeom prst="rect">
            <a:avLst/>
          </a:prstGeom>
          <a:solidFill>
            <a:srgbClr val="1A3A6B">
              <a:alpha val="30000"/>
            </a:srgbClr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098280" y="0"/>
            <a:ext cx="18288" cy="5143500"/>
          </a:xfrm>
          <a:prstGeom prst="rect">
            <a:avLst/>
          </a:prstGeom>
          <a:solidFill>
            <a:srgbClr val="1A3A6B">
              <a:alpha val="30000"/>
            </a:srgbClr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152B50"/>
          </a:solidFill>
          <a:ln w="12700">
            <a:solidFill>
              <a:srgbClr val="152B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0" y="457200"/>
            <a:ext cx="4572000" cy="3657600"/>
          </a:xfrm>
          <a:prstGeom prst="ellipse">
            <a:avLst/>
          </a:prstGeom>
          <a:solidFill>
            <a:srgbClr val="0A2050">
              <a:alpha val="70000"/>
            </a:srgbClr>
          </a:solidFill>
          <a:ln w="12700">
            <a:solidFill>
              <a:srgbClr val="0A20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457200"/>
            <a:ext cx="1097280" cy="1097280"/>
          </a:xfrm>
          <a:prstGeom prst="rect">
            <a:avLst/>
          </a:prstGeom>
          <a:solidFill>
            <a:srgbClr val="152B50"/>
          </a:solidFill>
          <a:ln w="25400">
            <a:solidFill>
              <a:srgbClr val="00C9A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65760" y="141732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spc="400" kern="0" dirty="0">
                <a:solidFill>
                  <a:srgbClr val="F0F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DeepTrust</a:t>
            </a:r>
            <a:endParaRPr lang="en-US" sz="6400" dirty="0"/>
          </a:p>
        </p:txBody>
      </p:sp>
      <p:sp>
        <p:nvSpPr>
          <p:cNvPr id="20" name="Text 18"/>
          <p:cNvSpPr/>
          <p:nvPr/>
        </p:nvSpPr>
        <p:spPr>
          <a:xfrm>
            <a:off x="365760" y="2423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spc="2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Stateful Autonomous Research Agent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65760" y="29260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B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Briefing  ·  Engineering Deep-Dive  ·  Design Rationale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68680" y="4315968"/>
            <a:ext cx="1371600" cy="347472"/>
          </a:xfrm>
          <a:prstGeom prst="rect">
            <a:avLst/>
          </a:prstGeom>
          <a:solidFill>
            <a:srgbClr val="4A6FA5">
              <a:alpha val="7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431596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LangGraph.js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350008" y="4315968"/>
            <a:ext cx="1371600" cy="347472"/>
          </a:xfrm>
          <a:prstGeom prst="rect">
            <a:avLst/>
          </a:prstGeom>
          <a:solidFill>
            <a:srgbClr val="4A6FA5">
              <a:alpha val="7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50008" y="431596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Next.js App Router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831336" y="4315968"/>
            <a:ext cx="1371600" cy="347472"/>
          </a:xfrm>
          <a:prstGeom prst="rect">
            <a:avLst/>
          </a:prstGeom>
          <a:solidFill>
            <a:srgbClr val="4A6FA5">
              <a:alpha val="7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31336" y="431596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Zod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312664" y="4315968"/>
            <a:ext cx="1371600" cy="347472"/>
          </a:xfrm>
          <a:prstGeom prst="rect">
            <a:avLst/>
          </a:prstGeom>
          <a:solidFill>
            <a:srgbClr val="4A6FA5">
              <a:alpha val="7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12664" y="431596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TypeScript Strict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793992" y="4315968"/>
            <a:ext cx="1371600" cy="347472"/>
          </a:xfrm>
          <a:prstGeom prst="rect">
            <a:avLst/>
          </a:prstGeom>
          <a:solidFill>
            <a:srgbClr val="4A6FA5">
              <a:alpha val="7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93992" y="431596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HITL Controls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23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142E"/>
          </a:solidFill>
          <a:ln w="12700">
            <a:solidFill>
              <a:srgbClr val="0814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A8BE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 WITH NAIVE AI AUTOMATION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WE BUILT THIS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09728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Most LLM pipelines are scripts wearing a lab coat.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1920240"/>
            <a:ext cx="2057400" cy="2377440"/>
          </a:xfrm>
          <a:prstGeom prst="rect">
            <a:avLst/>
          </a:prstGeom>
          <a:solidFill>
            <a:srgbClr val="152B50"/>
          </a:solidFill>
          <a:ln w="1905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920240"/>
            <a:ext cx="2057400" cy="7315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0574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74320" y="257860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F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State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84048" y="2999232"/>
            <a:ext cx="1828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8B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if/else chains, not graphs. Can't rehydrate, resume, or checkpoint across processes.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50592" y="1920240"/>
            <a:ext cx="2057400" cy="2377440"/>
          </a:xfrm>
          <a:prstGeom prst="rect">
            <a:avLst/>
          </a:prstGeom>
          <a:solidFill>
            <a:srgbClr val="152B50"/>
          </a:solidFill>
          <a:ln w="1905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50592" y="1920240"/>
            <a:ext cx="2057400" cy="7315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50592" y="20574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🕳️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450592" y="257860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F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Black Box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560320" y="2999232"/>
            <a:ext cx="1828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8B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visibility into model reasoning. When it fails you have no audit trail to debug.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26864" y="1920240"/>
            <a:ext cx="2057400" cy="2377440"/>
          </a:xfrm>
          <a:prstGeom prst="rect">
            <a:avLst/>
          </a:prstGeom>
          <a:solidFill>
            <a:srgbClr val="152B50"/>
          </a:solidFill>
          <a:ln w="1905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26864" y="1920240"/>
            <a:ext cx="2057400" cy="7315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26864" y="20574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🔓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626864" y="257860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F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Controls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736592" y="2999232"/>
            <a:ext cx="1828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8B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fire immediately. No human review point before the agent makes side effects.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03136" y="1920240"/>
            <a:ext cx="2057400" cy="2377440"/>
          </a:xfrm>
          <a:prstGeom prst="rect">
            <a:avLst/>
          </a:prstGeom>
          <a:solidFill>
            <a:srgbClr val="152B50"/>
          </a:solidFill>
          <a:ln w="1905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03136" y="1920240"/>
            <a:ext cx="2057400" cy="7315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03136" y="20574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💣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803136" y="257860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F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Policy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12864" y="2999232"/>
            <a:ext cx="1828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8B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Unfiltered plans execute without checking org rules, data boundaries, or safety constraints.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4526280"/>
            <a:ext cx="8595360" cy="384048"/>
          </a:xfrm>
          <a:prstGeom prst="rect">
            <a:avLst/>
          </a:prstGeom>
          <a:solidFill>
            <a:srgbClr val="1A0A0A">
              <a:alpha val="80000"/>
            </a:srgbClr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52628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Brittle, unauditable, unsafe pipelines that break at production scale.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347"/>
          </a:solidFill>
          <a:ln w="12700">
            <a:solidFill>
              <a:srgbClr val="0F23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A8BE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BUILT — SYSTEM OVERVIEW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DeepTrust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74320" y="137160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graph-native autonomous research agent with full observability, policy enforcement, and human approval controls baked into the architecture — not bolted on after the fact.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2606040"/>
            <a:ext cx="201168" cy="2926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2587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 over Scripts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28346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StateGraph replaces if/else control flow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3081528"/>
            <a:ext cx="201168" cy="2926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3063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Observability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" y="331012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node appends to a reasoning trail in state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3557016"/>
            <a:ext cx="201168" cy="2926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35387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Persistence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6928" y="378561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Checkpointer enables full session rehydration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4032504"/>
            <a:ext cx="201168" cy="2926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40142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Controllability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6928" y="426110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interrupt before any tool fires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4507992"/>
            <a:ext cx="201168" cy="2926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44897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Alignment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6928" y="473659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 node validates every plan against POLICY.md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394960" y="868680"/>
            <a:ext cx="2926080" cy="548640"/>
          </a:xfrm>
          <a:prstGeom prst="rect">
            <a:avLst/>
          </a:prstGeom>
          <a:solidFill>
            <a:srgbClr val="152B50"/>
          </a:solidFill>
          <a:ln w="25400">
            <a:solidFill>
              <a:srgbClr val="5DADE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94960" y="868680"/>
            <a:ext cx="1901952" cy="5486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AD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THINKER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296912" y="868680"/>
            <a:ext cx="1024128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plan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394960" y="1645920"/>
            <a:ext cx="2926080" cy="548640"/>
          </a:xfrm>
          <a:prstGeom prst="rect">
            <a:avLst/>
          </a:prstGeom>
          <a:solidFill>
            <a:srgbClr val="152B50"/>
          </a:solidFill>
          <a:ln w="25400">
            <a:solidFill>
              <a:srgbClr val="F5C84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394960" y="1645920"/>
            <a:ext cx="1901952" cy="5486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AUDITOR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296912" y="1645920"/>
            <a:ext cx="1024128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check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394960" y="2423160"/>
            <a:ext cx="2926080" cy="548640"/>
          </a:xfrm>
          <a:prstGeom prst="rect">
            <a:avLst/>
          </a:prstGeom>
          <a:solidFill>
            <a:srgbClr val="152B50"/>
          </a:solidFill>
          <a:ln w="254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394960" y="2423160"/>
            <a:ext cx="1901952" cy="5486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HITL GATE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296912" y="2423160"/>
            <a:ext cx="1024128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394960" y="3200400"/>
            <a:ext cx="2926080" cy="548640"/>
          </a:xfrm>
          <a:prstGeom prst="rect">
            <a:avLst/>
          </a:prstGeom>
          <a:solidFill>
            <a:srgbClr val="152B50"/>
          </a:solidFill>
          <a:ln w="25400">
            <a:solidFill>
              <a:srgbClr val="5DADE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394960" y="3200400"/>
            <a:ext cx="1901952" cy="5486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AD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 EXEC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296912" y="3200400"/>
            <a:ext cx="1024128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tools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394960" y="3977640"/>
            <a:ext cx="2926080" cy="548640"/>
          </a:xfrm>
          <a:prstGeom prst="rect">
            <a:avLst/>
          </a:prstGeom>
          <a:solidFill>
            <a:srgbClr val="152B50"/>
          </a:solidFill>
          <a:ln w="25400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394960" y="3977640"/>
            <a:ext cx="1901952" cy="5486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SYNTHESIZER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296912" y="3977640"/>
            <a:ext cx="1024128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848856" y="1417320"/>
            <a:ext cx="18288" cy="59436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48856" y="2194560"/>
            <a:ext cx="18288" cy="59436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848856" y="2971800"/>
            <a:ext cx="18288" cy="59436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48856" y="3749040"/>
            <a:ext cx="18288" cy="59436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503920" y="1600200"/>
            <a:ext cx="18288" cy="13716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94192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REJECT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3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142E"/>
          </a:solidFill>
          <a:ln w="12700">
            <a:solidFill>
              <a:srgbClr val="0814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A8BE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 ARCHITECTURE — state.ts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field that flows through the graph is defined once, in one place.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3931920" cy="3657600"/>
          </a:xfrm>
          <a:prstGeom prst="rect">
            <a:avLst/>
          </a:prstGeom>
          <a:solidFill>
            <a:srgbClr val="152B50"/>
          </a:solidFill>
          <a:ln w="25400">
            <a:solidFill>
              <a:srgbClr val="F5C84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234440"/>
            <a:ext cx="3931920" cy="34747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344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14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ResearchState  (Zod Schema)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6642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IDENTITY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11480" y="189280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E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threadId  : string (UUID)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209397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E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sessionName  : string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23500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PLANNING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11480" y="257860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E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userQuery  : string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277977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E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plan  : ResearchPlan | null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1480" y="298094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E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rejectionFeedback  : string | null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318211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E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planRevisionCount  : number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" y="343814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AUDITING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11480" y="366674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E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auditResult  : AuditResult | null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1480" y="392277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EXECUTION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11480" y="415137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E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currentStepIndex  : number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11480" y="435254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E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humanApproved  : boolean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460857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OBSERVABILITY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11480" y="483717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E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reasoning  : ReasoningEntry[]  ← append-only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11480" y="50932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LIFECYCLE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11480" y="532180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E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status  : RunStatus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11480" y="552297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E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finalReport  : string | null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0" y="1234440"/>
            <a:ext cx="4297680" cy="804672"/>
          </a:xfrm>
          <a:prstGeom prst="rect">
            <a:avLst/>
          </a:prstGeom>
          <a:solidFill>
            <a:srgbClr val="152B50"/>
          </a:solidFill>
          <a:ln w="19050">
            <a:solidFill>
              <a:srgbClr val="5DADE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0" y="1234440"/>
            <a:ext cx="91440" cy="804672"/>
          </a:xfrm>
          <a:prstGeom prst="rect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36592" y="1271016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AD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ResearchPlan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36592" y="1536192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E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objective : string  ·  steps[] : ResearchStep  ·  estimatedTokenBudget  ·  revision : number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0" y="2148840"/>
            <a:ext cx="4297680" cy="804672"/>
          </a:xfrm>
          <a:prstGeom prst="rect">
            <a:avLst/>
          </a:prstGeom>
          <a:solidFill>
            <a:srgbClr val="152B50"/>
          </a:solidFill>
          <a:ln w="1905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72000" y="2148840"/>
            <a:ext cx="91440" cy="80467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36592" y="2185416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ResearchStep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736592" y="2450592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E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: UUID  ·  tool : enum  ·  input, rationale  ·  output? (post-exec)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0" y="3063240"/>
            <a:ext cx="4297680" cy="804672"/>
          </a:xfrm>
          <a:prstGeom prst="rect">
            <a:avLst/>
          </a:prstGeom>
          <a:solidFill>
            <a:srgbClr val="152B50"/>
          </a:solidFill>
          <a:ln w="19050">
            <a:solidFill>
              <a:srgbClr val="F5C84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572000" y="3063240"/>
            <a:ext cx="91440" cy="80467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36592" y="3099816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AuditResult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736592" y="3364992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E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verdict : enum  ·  policyViolations[]  ·  suggestions[]  ·  auditedAt : datetime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72000" y="3977640"/>
            <a:ext cx="4297680" cy="804672"/>
          </a:xfrm>
          <a:prstGeom prst="rect">
            <a:avLst/>
          </a:prstGeom>
          <a:solidFill>
            <a:srgbClr val="152B50"/>
          </a:solidFill>
          <a:ln w="19050">
            <a:solidFill>
              <a:srgbClr val="A8BE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572000" y="3977640"/>
            <a:ext cx="91440" cy="804672"/>
          </a:xfrm>
          <a:prstGeom prst="rect">
            <a:avLst/>
          </a:prstGeom>
          <a:solidFill>
            <a:srgbClr val="A8BED4"/>
          </a:solidFill>
          <a:ln w="12700">
            <a:solidFill>
              <a:srgbClr val="A8BED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36592" y="4014216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BE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ReasoningEntry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736592" y="4279392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E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: NodeName  ·  timestamp : datetime  ·  summary : string  ·  rawThought? : string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572000" y="4663440"/>
            <a:ext cx="4297680" cy="256032"/>
          </a:xfrm>
          <a:prstGeom prst="rect">
            <a:avLst/>
          </a:prstGeom>
          <a:solidFill>
            <a:srgbClr val="08142E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0" y="46634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Runtime validated by Zod  ·  Zero `any` — all types inferred  ·  JSON-safe for checkpointer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347"/>
          </a:solidFill>
          <a:ln w="12700">
            <a:solidFill>
              <a:srgbClr val="0F23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A8BE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 TOPOLOGY — graph.ts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1097280" cy="502920"/>
          </a:xfrm>
          <a:prstGeom prst="rect">
            <a:avLst/>
          </a:prstGeom>
          <a:solidFill>
            <a:srgbClr val="152B50"/>
          </a:solidFill>
          <a:ln w="25400">
            <a:solidFill>
              <a:srgbClr val="A8BE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9144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BE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28800" y="914400"/>
            <a:ext cx="1463040" cy="502920"/>
          </a:xfrm>
          <a:prstGeom prst="rect">
            <a:avLst/>
          </a:prstGeom>
          <a:solidFill>
            <a:srgbClr val="152B50"/>
          </a:solidFill>
          <a:ln w="25400">
            <a:solidFill>
              <a:srgbClr val="5DADE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828800" y="9144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DAD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thinker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0" y="914400"/>
            <a:ext cx="1463040" cy="502920"/>
          </a:xfrm>
          <a:prstGeom prst="rect">
            <a:avLst/>
          </a:prstGeom>
          <a:solidFill>
            <a:srgbClr val="152B50"/>
          </a:solidFill>
          <a:ln w="25400">
            <a:solidFill>
              <a:srgbClr val="F5C8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0" y="9144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auditor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760720" y="914400"/>
            <a:ext cx="1554480" cy="502920"/>
          </a:xfrm>
          <a:prstGeom prst="rect">
            <a:avLst/>
          </a:prstGeom>
          <a:solidFill>
            <a:srgbClr val="152B50"/>
          </a:solidFill>
          <a:ln w="25400">
            <a:solidFill>
              <a:srgbClr val="00C9A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760720" y="9144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hitl_gate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760720" y="2011680"/>
            <a:ext cx="1554480" cy="502920"/>
          </a:xfrm>
          <a:prstGeom prst="rect">
            <a:avLst/>
          </a:prstGeom>
          <a:solidFill>
            <a:srgbClr val="152B50"/>
          </a:solidFill>
          <a:ln w="25400">
            <a:solidFill>
              <a:srgbClr val="5DADE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760720" y="20116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DAD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tool_executor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0" y="3200400"/>
            <a:ext cx="1737360" cy="502920"/>
          </a:xfrm>
          <a:prstGeom prst="rect">
            <a:avLst/>
          </a:prstGeom>
          <a:solidFill>
            <a:srgbClr val="152B50"/>
          </a:solidFill>
          <a:ln w="25400">
            <a:solidFill>
              <a:srgbClr val="2ECC7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0" y="32004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synthesizer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760720" y="3200400"/>
            <a:ext cx="1097280" cy="502920"/>
          </a:xfrm>
          <a:prstGeom prst="rect">
            <a:avLst/>
          </a:prstGeom>
          <a:solidFill>
            <a:srgbClr val="152B50"/>
          </a:solidFill>
          <a:ln w="25400">
            <a:solidFill>
              <a:srgbClr val="A8BE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760720" y="32004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BE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463040" y="1165860"/>
            <a:ext cx="365760" cy="0"/>
          </a:xfrm>
          <a:prstGeom prst="line">
            <a:avLst/>
          </a:prstGeom>
          <a:noFill/>
          <a:ln w="25400">
            <a:solidFill>
              <a:srgbClr val="A8BE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91840" y="1165860"/>
            <a:ext cx="365760" cy="0"/>
          </a:xfrm>
          <a:prstGeom prst="line">
            <a:avLst/>
          </a:prstGeom>
          <a:noFill/>
          <a:ln w="25400">
            <a:solidFill>
              <a:srgbClr val="5DADE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0" y="1165860"/>
            <a:ext cx="640080" cy="0"/>
          </a:xfrm>
          <a:prstGeom prst="line">
            <a:avLst/>
          </a:prstGeom>
          <a:noFill/>
          <a:ln w="25400">
            <a:solidFill>
              <a:srgbClr val="2ECC7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37960" y="1417320"/>
            <a:ext cx="0" cy="59436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03520" y="2263140"/>
            <a:ext cx="457200" cy="0"/>
          </a:xfrm>
          <a:prstGeom prst="line">
            <a:avLst/>
          </a:prstGeom>
          <a:noFill/>
          <a:ln w="25400">
            <a:solidFill>
              <a:srgbClr val="5DADE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94960" y="3451860"/>
            <a:ext cx="365760" cy="0"/>
          </a:xfrm>
          <a:prstGeom prst="line">
            <a:avLst/>
          </a:prstGeom>
          <a:noFill/>
          <a:ln w="25400">
            <a:solidFill>
              <a:srgbClr val="2ECC7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37960" y="2514600"/>
            <a:ext cx="0" cy="685800"/>
          </a:xfrm>
          <a:prstGeom prst="line">
            <a:avLst/>
          </a:prstGeom>
          <a:noFill/>
          <a:ln w="25400">
            <a:solidFill>
              <a:srgbClr val="5DADE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94960" y="3200400"/>
            <a:ext cx="1143000" cy="0"/>
          </a:xfrm>
          <a:prstGeom prst="line">
            <a:avLst/>
          </a:prstGeom>
          <a:noFill/>
          <a:ln w="25400">
            <a:solidFill>
              <a:srgbClr val="5DAD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89120" y="1417320"/>
            <a:ext cx="0" cy="914400"/>
          </a:xfrm>
          <a:prstGeom prst="line">
            <a:avLst/>
          </a:prstGeom>
          <a:noFill/>
          <a:ln w="25400">
            <a:solidFill>
              <a:srgbClr val="E74C3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0" y="2331720"/>
            <a:ext cx="1828800" cy="0"/>
          </a:xfrm>
          <a:prstGeom prst="line">
            <a:avLst/>
          </a:prstGeom>
          <a:noFill/>
          <a:ln w="25400">
            <a:solidFill>
              <a:srgbClr val="E74C3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60320" y="1417320"/>
            <a:ext cx="0" cy="914400"/>
          </a:xfrm>
          <a:prstGeom prst="line">
            <a:avLst/>
          </a:prstGeom>
          <a:noFill/>
          <a:ln w="25400">
            <a:solidFill>
              <a:srgbClr val="E74C3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0" y="2468880"/>
            <a:ext cx="1417320" cy="320040"/>
          </a:xfrm>
          <a:prstGeom prst="rect">
            <a:avLst/>
          </a:prstGeom>
          <a:solidFill>
            <a:srgbClr val="08142E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0" y="24688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 REJECTED — REVISE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663440" y="1920240"/>
            <a:ext cx="1417320" cy="320040"/>
          </a:xfrm>
          <a:prstGeom prst="rect">
            <a:avLst/>
          </a:prstGeom>
          <a:solidFill>
            <a:srgbClr val="08142E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19202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DAD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steps remaining?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138928" y="7315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✓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400800" y="1481328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✓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498080" y="914400"/>
            <a:ext cx="1508760" cy="3931920"/>
          </a:xfrm>
          <a:prstGeom prst="rect">
            <a:avLst/>
          </a:prstGeom>
          <a:solidFill>
            <a:srgbClr val="152B50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98080" y="96012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A8BE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CONDITIONAL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spc="100" kern="0" dirty="0">
                <a:solidFill>
                  <a:srgbClr val="A8BE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EDGES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543800" y="1444752"/>
            <a:ext cx="73152" cy="50292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99248" y="143560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B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approved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B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hitl_gate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7543800" y="2103120"/>
            <a:ext cx="73152" cy="5029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699248" y="209397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B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rejected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B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thinker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7543800" y="2761488"/>
            <a:ext cx="73152" cy="5029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699248" y="275234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B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approved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B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tool_exec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543800" y="3419856"/>
            <a:ext cx="73152" cy="502920"/>
          </a:xfrm>
          <a:prstGeom prst="rect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99248" y="341071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B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steps left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B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loop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7543800" y="4078224"/>
            <a:ext cx="73152" cy="50292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699248" y="406908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B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done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B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synthesize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3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142E"/>
          </a:solidFill>
          <a:ln w="12700">
            <a:solidFill>
              <a:srgbClr val="0814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"/>
          </a:xfrm>
          <a:prstGeom prst="rect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A8BE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FIVE NODES — RESPONSIBILITIES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82880" y="777240"/>
            <a:ext cx="4343400" cy="1298448"/>
          </a:xfrm>
          <a:prstGeom prst="rect">
            <a:avLst/>
          </a:prstGeom>
          <a:solidFill>
            <a:srgbClr val="152B50"/>
          </a:solidFill>
          <a:ln w="25400">
            <a:solidFill>
              <a:srgbClr val="5DADE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777240"/>
            <a:ext cx="91440" cy="1298448"/>
          </a:xfrm>
          <a:prstGeom prst="rect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84124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DAD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🧠  thinker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0" y="84124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A8B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7472" y="1143000"/>
            <a:ext cx="4087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Decomposes the user's research question into a structured ResearchPlan — an ordered array of typed tool steps, each with an explicit rationale.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" y="1783080"/>
            <a:ext cx="4087368" cy="237744"/>
          </a:xfrm>
          <a:prstGeom prst="rect">
            <a:avLst/>
          </a:prstGeom>
          <a:solidFill>
            <a:srgbClr val="08142E"/>
          </a:solidFill>
          <a:ln w="6350">
            <a:solidFill>
              <a:srgbClr val="5DAD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783080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AD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Produces: ResearchPlan  ·  Clears: rejectionFeedback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82880" y="2221992"/>
            <a:ext cx="4343400" cy="1298448"/>
          </a:xfrm>
          <a:prstGeom prst="rect">
            <a:avLst/>
          </a:prstGeom>
          <a:solidFill>
            <a:srgbClr val="152B50"/>
          </a:solidFill>
          <a:ln w="25400">
            <a:solidFill>
              <a:srgbClr val="F5C84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82880" y="2221992"/>
            <a:ext cx="91440" cy="1298448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2860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🔍  auditor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43200" y="22860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A8B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Enforcer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2587752"/>
            <a:ext cx="4087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POLICY.md from disk and evaluates the current plan against every rule. Returns a structured AuditResult with verdict, violations, and suggestions.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7472" y="3227832"/>
            <a:ext cx="4087368" cy="237744"/>
          </a:xfrm>
          <a:prstGeom prst="rect">
            <a:avLst/>
          </a:prstGeom>
          <a:solidFill>
            <a:srgbClr val="08142E"/>
          </a:solidFill>
          <a:ln w="6350">
            <a:solidFill>
              <a:srgbClr val="F5C8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3227832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Verdict: approved | rejected | needs_revision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82880" y="3666744"/>
            <a:ext cx="4343400" cy="1298448"/>
          </a:xfrm>
          <a:prstGeom prst="rect">
            <a:avLst/>
          </a:prstGeom>
          <a:solidFill>
            <a:srgbClr val="152B50"/>
          </a:solidFill>
          <a:ln w="254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82880" y="3666744"/>
            <a:ext cx="91440" cy="129844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373075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⏸  hitl_gate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0" y="373075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A8B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Checkpoint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7472" y="4032504"/>
            <a:ext cx="4087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Pauses the entire graph using LangGraph's interrupt() primitive. The current checkpoint is persisted and execution suspends until the operator resumes it.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7472" y="4672584"/>
            <a:ext cx="4087368" cy="237744"/>
          </a:xfrm>
          <a:prstGeom prst="rect">
            <a:avLst/>
          </a:prstGeom>
          <a:solidFill>
            <a:srgbClr val="08142E"/>
          </a:solidFill>
          <a:ln w="6350">
            <a:solidFill>
              <a:srgbClr val="00C9A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4672584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tool ever fires without explicit human sign-off.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663440" y="777240"/>
            <a:ext cx="4343400" cy="1298448"/>
          </a:xfrm>
          <a:prstGeom prst="rect">
            <a:avLst/>
          </a:prstGeom>
          <a:solidFill>
            <a:srgbClr val="152B50"/>
          </a:solidFill>
          <a:ln w="25400">
            <a:solidFill>
              <a:srgbClr val="5DADE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777240"/>
            <a:ext cx="91440" cy="1298448"/>
          </a:xfrm>
          <a:prstGeom prst="rect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28032" y="84124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DAD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⚙️  tool_executor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223760" y="84124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A8B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Runner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28032" y="1143000"/>
            <a:ext cx="4087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one ResearchStep per invocation via a typed dispatchTool() switch. Writes the output back into the plan immutably and advances currentStepIndex.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28032" y="1783080"/>
            <a:ext cx="4087368" cy="237744"/>
          </a:xfrm>
          <a:prstGeom prst="rect">
            <a:avLst/>
          </a:prstGeom>
          <a:solidFill>
            <a:srgbClr val="08142E"/>
          </a:solidFill>
          <a:ln w="6350">
            <a:solidFill>
              <a:srgbClr val="5DAD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64608" y="1783080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AD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Swap stubs for Tavily, Playwright, or code sandboxes.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663440" y="2221992"/>
            <a:ext cx="4343400" cy="1298448"/>
          </a:xfrm>
          <a:prstGeom prst="rect">
            <a:avLst/>
          </a:prstGeom>
          <a:solidFill>
            <a:srgbClr val="152B50"/>
          </a:solidFill>
          <a:ln w="25400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2221992"/>
            <a:ext cx="91440" cy="129844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28032" y="22860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 synthesizer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223760" y="22860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A8B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Writer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28032" y="2587752"/>
            <a:ext cx="4087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all completed step outputs and generates a structured research report: executive summary, thematic findings, citations, and conclusions.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28032" y="3227832"/>
            <a:ext cx="4087368" cy="237744"/>
          </a:xfrm>
          <a:prstGeom prst="rect">
            <a:avLst/>
          </a:prstGeom>
          <a:solidFill>
            <a:srgbClr val="08142E"/>
          </a:solidFill>
          <a:ln w="6350">
            <a:solidFill>
              <a:srgbClr val="2ECC7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64608" y="3227832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finalReport in state  ·  Sets: status=complete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347"/>
          </a:solidFill>
          <a:ln w="12700">
            <a:solidFill>
              <a:srgbClr val="0F23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A8BE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CONTROLLABILITY &amp; OBSERVABILITY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Human-in-the-Loop (HITL)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1261872"/>
            <a:ext cx="347472" cy="34747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618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14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" y="126187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 pauses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3232" y="14630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 approves → interrupt() writes checkpoint and suspends the process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48056" y="1609344"/>
            <a:ext cx="0" cy="521208"/>
          </a:xfrm>
          <a:prstGeom prst="line">
            <a:avLst/>
          </a:prstGeom>
          <a:noFill/>
          <a:ln w="19050">
            <a:solidFill>
              <a:srgbClr val="00C9A7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274320" y="2130552"/>
            <a:ext cx="347472" cy="34747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1305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14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13232" y="213055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 is persisted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13232" y="23317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MemorySaver (dev) or PostgresSaver (prod) stores the full ResearchState keyed by threadId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48056" y="2478024"/>
            <a:ext cx="0" cy="521208"/>
          </a:xfrm>
          <a:prstGeom prst="line">
            <a:avLst/>
          </a:prstGeom>
          <a:noFill/>
          <a:ln w="19050">
            <a:solidFill>
              <a:srgbClr val="00C9A7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274320" y="2999232"/>
            <a:ext cx="347472" cy="34747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999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14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13232" y="29992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Operator reviews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13232" y="32004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reads plan + auditResult from state. Operator inspects every step before approving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48056" y="3346704"/>
            <a:ext cx="0" cy="521208"/>
          </a:xfrm>
          <a:prstGeom prst="line">
            <a:avLst/>
          </a:prstGeom>
          <a:noFill/>
          <a:ln w="19050">
            <a:solidFill>
              <a:srgbClr val="00C9A7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274320" y="3867912"/>
            <a:ext cx="347472" cy="34747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867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14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3232" y="386791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13232" y="40690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updateState({humanApproved:true}) + re-stream(null) → graph continues from exact checkpoint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4663440"/>
            <a:ext cx="4023360" cy="292608"/>
          </a:xfrm>
          <a:prstGeom prst="rect">
            <a:avLst/>
          </a:prstGeom>
          <a:solidFill>
            <a:srgbClr val="152B50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663440"/>
            <a:ext cx="402336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graph.updateState(config, { humanApproved: true });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480560" y="777240"/>
            <a:ext cx="0" cy="4251960"/>
          </a:xfrm>
          <a:prstGeom prst="line">
            <a:avLst/>
          </a:prstGeom>
          <a:noFill/>
          <a:ln w="12700">
            <a:solidFill>
              <a:srgbClr val="4A6FA5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4617720" y="77724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Observability — reasoning trail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617720" y="1207008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node appends a ReasoningEntry to state.reasoning before returning. This creates a complete, replayable thought-process log.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17720" y="1920240"/>
            <a:ext cx="4206240" cy="402336"/>
          </a:xfrm>
          <a:prstGeom prst="rect">
            <a:avLst/>
          </a:prstGeom>
          <a:solidFill>
            <a:srgbClr val="152B50"/>
          </a:solidFill>
          <a:ln w="6350">
            <a:solidFill>
              <a:srgbClr val="5DADE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17720" y="1920240"/>
            <a:ext cx="64008" cy="402336"/>
          </a:xfrm>
          <a:prstGeom prst="rect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18304" y="19202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DAD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[thinker]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718304" y="2103120"/>
            <a:ext cx="4041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plan created: 6 steps for "What caused the 2008 crisis?"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617720" y="2377440"/>
            <a:ext cx="4206240" cy="402336"/>
          </a:xfrm>
          <a:prstGeom prst="rect">
            <a:avLst/>
          </a:prstGeom>
          <a:solidFill>
            <a:srgbClr val="152B50"/>
          </a:solidFill>
          <a:ln w="6350">
            <a:solidFill>
              <a:srgbClr val="F5C84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17720" y="2377440"/>
            <a:ext cx="64008" cy="402336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18304" y="23774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[auditor]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718304" y="2560320"/>
            <a:ext cx="4041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REJECTED — 1 violation: step 3 fetches private financial records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617720" y="2834640"/>
            <a:ext cx="4206240" cy="402336"/>
          </a:xfrm>
          <a:prstGeom prst="rect">
            <a:avLst/>
          </a:prstGeom>
          <a:solidFill>
            <a:srgbClr val="152B50"/>
          </a:solidFill>
          <a:ln w="6350">
            <a:solidFill>
              <a:srgbClr val="5DADE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17720" y="2834640"/>
            <a:ext cx="64008" cy="402336"/>
          </a:xfrm>
          <a:prstGeom prst="rect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18304" y="28346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DAD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[thinker]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718304" y="3017520"/>
            <a:ext cx="4041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Revised plan (attempt 2): replaced private source with public FDIC reports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617720" y="3291840"/>
            <a:ext cx="4206240" cy="402336"/>
          </a:xfrm>
          <a:prstGeom prst="rect">
            <a:avLst/>
          </a:prstGeom>
          <a:solidFill>
            <a:srgbClr val="152B50"/>
          </a:solidFill>
          <a:ln w="6350">
            <a:solidFill>
              <a:srgbClr val="2ECC7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17720" y="3291840"/>
            <a:ext cx="64008" cy="402336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18304" y="32918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[auditor]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718304" y="3474720"/>
            <a:ext cx="4041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APPROVED — no policy violations detected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617720" y="3749040"/>
            <a:ext cx="4206240" cy="402336"/>
          </a:xfrm>
          <a:prstGeom prst="rect">
            <a:avLst/>
          </a:prstGeom>
          <a:solidFill>
            <a:srgbClr val="152B50"/>
          </a:solidFill>
          <a:ln w="6350">
            <a:solidFill>
              <a:srgbClr val="00C9A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617720" y="3749040"/>
            <a:ext cx="64008" cy="40233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18304" y="37490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[hitl_gate]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718304" y="3931920"/>
            <a:ext cx="4041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⏸ HITL gate: awaiting human approval before tool execution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617720" y="4206240"/>
            <a:ext cx="4206240" cy="402336"/>
          </a:xfrm>
          <a:prstGeom prst="rect">
            <a:avLst/>
          </a:prstGeom>
          <a:solidFill>
            <a:srgbClr val="152B50"/>
          </a:solidFill>
          <a:ln w="6350">
            <a:solidFill>
              <a:srgbClr val="5DADE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617720" y="4206240"/>
            <a:ext cx="64008" cy="402336"/>
          </a:xfrm>
          <a:prstGeom prst="rect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18304" y="42062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DAD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[tool_exec]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718304" y="4389120"/>
            <a:ext cx="4041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Executed step 1/6: [web_search] "Federal Reserve 2008 policy decisions"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3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142E"/>
          </a:solidFill>
          <a:ln w="12700">
            <a:solidFill>
              <a:srgbClr val="0814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"/>
          </a:xfrm>
          <a:prstGeom prst="rect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A8BE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 STACK — CHOICES &amp; RATIONALE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82880" y="822960"/>
            <a:ext cx="4297680" cy="1316736"/>
          </a:xfrm>
          <a:prstGeom prst="rect">
            <a:avLst/>
          </a:prstGeom>
          <a:solidFill>
            <a:srgbClr val="152B50"/>
          </a:solidFill>
          <a:ln w="1905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822960"/>
            <a:ext cx="4297680" cy="914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601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LangGraph.js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017520" y="987552"/>
            <a:ext cx="1325880" cy="237744"/>
          </a:xfrm>
          <a:prstGeom prst="rect">
            <a:avLst/>
          </a:prstGeom>
          <a:solidFill>
            <a:srgbClr val="08142E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0" y="987552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ORCHESTRATION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20040" y="1298448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brittle if/else chains with a proper state machine. Checkpointing, interrupts, and conditional edges are first-class primitives.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1920240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8B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Alternatives: LangChain sequential agents, CrewAI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709160" y="822960"/>
            <a:ext cx="4297680" cy="1316736"/>
          </a:xfrm>
          <a:prstGeom prst="rect">
            <a:avLst/>
          </a:prstGeom>
          <a:solidFill>
            <a:srgbClr val="152B50"/>
          </a:solidFill>
          <a:ln w="19050">
            <a:solidFill>
              <a:srgbClr val="F5C84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822960"/>
            <a:ext cx="4297680" cy="9144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9601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Zod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543800" y="987552"/>
            <a:ext cx="1325880" cy="237744"/>
          </a:xfrm>
          <a:prstGeom prst="rect">
            <a:avLst/>
          </a:prstGeom>
          <a:solidFill>
            <a:srgbClr val="08142E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43800" y="987552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VALIDATION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846320" y="1298448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 for state shape. Prevents type drift between nodes and eliminates class of bugs where a node writes an unexpected field.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1920240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8B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Alternatives: io-ts, Yup, Valibot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82880" y="2267712"/>
            <a:ext cx="4297680" cy="1316736"/>
          </a:xfrm>
          <a:prstGeom prst="rect">
            <a:avLst/>
          </a:prstGeom>
          <a:solidFill>
            <a:srgbClr val="152B50"/>
          </a:solidFill>
          <a:ln w="19050">
            <a:solidFill>
              <a:srgbClr val="5DADE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82880" y="2267712"/>
            <a:ext cx="4297680" cy="91440"/>
          </a:xfrm>
          <a:prstGeom prst="rect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40487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DAD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Next.js App Router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017520" y="2432304"/>
            <a:ext cx="1325880" cy="237744"/>
          </a:xfrm>
          <a:prstGeom prst="rect">
            <a:avLst/>
          </a:prstGeom>
          <a:solidFill>
            <a:srgbClr val="08142E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17520" y="2432304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5DAD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20040" y="2743200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Actions pair cleanly with LangGraph's async generators for real-time reasoning stream to the UI.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0040" y="3364992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8B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Alternatives: Express + React, Remix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709160" y="2267712"/>
            <a:ext cx="4297680" cy="1316736"/>
          </a:xfrm>
          <a:prstGeom prst="rect">
            <a:avLst/>
          </a:prstGeom>
          <a:solidFill>
            <a:srgbClr val="152B50"/>
          </a:solidFill>
          <a:ln w="19050">
            <a:solidFill>
              <a:srgbClr val="A8BE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2267712"/>
            <a:ext cx="4297680" cy="91440"/>
          </a:xfrm>
          <a:prstGeom prst="rect">
            <a:avLst/>
          </a:prstGeom>
          <a:solidFill>
            <a:srgbClr val="A8BED4"/>
          </a:solidFill>
          <a:ln w="12700">
            <a:solidFill>
              <a:srgbClr val="A8BE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240487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BE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 / Llama 3.2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543800" y="2432304"/>
            <a:ext cx="1325880" cy="237744"/>
          </a:xfrm>
          <a:prstGeom prst="rect">
            <a:avLst/>
          </a:prstGeom>
          <a:solidFill>
            <a:srgbClr val="08142E"/>
          </a:solidFill>
          <a:ln w="12700">
            <a:solidFill>
              <a:srgbClr val="A8BE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43800" y="2432304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A8BE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846320" y="2743200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sovereignty — research runs entirely on-prem. No external API calls for sensitive queries. Swap for Anthropic/OpenAI with one client change.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46320" y="3364992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8B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Alternatives: Claude API, GPT-4, Gemini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82880" y="3712464"/>
            <a:ext cx="4297680" cy="1316736"/>
          </a:xfrm>
          <a:prstGeom prst="rect">
            <a:avLst/>
          </a:prstGeom>
          <a:solidFill>
            <a:srgbClr val="152B50"/>
          </a:solidFill>
          <a:ln w="19050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82880" y="3712464"/>
            <a:ext cx="4297680" cy="9144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384962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MemorySaver / PostgresSaver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017520" y="3877056"/>
            <a:ext cx="1325880" cy="237744"/>
          </a:xfrm>
          <a:prstGeom prst="rect">
            <a:avLst/>
          </a:prstGeom>
          <a:solidFill>
            <a:srgbClr val="08142E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17520" y="3877056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PERSISTENCE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20040" y="4187952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full session rehydration across process restarts, server failures, or long multi-day research jobs.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20040" y="4809744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8B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Alternatives: Redis, custom DB checkpointer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709160" y="3712464"/>
            <a:ext cx="4297680" cy="1316736"/>
          </a:xfrm>
          <a:prstGeom prst="rect">
            <a:avLst/>
          </a:prstGeom>
          <a:solidFill>
            <a:srgbClr val="152B50"/>
          </a:solidFill>
          <a:ln w="19050">
            <a:solidFill>
              <a:srgbClr val="4A6FA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09160" y="3712464"/>
            <a:ext cx="4297680" cy="9144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384962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6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TypeScript Strict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7543800" y="3877056"/>
            <a:ext cx="1325880" cy="237744"/>
          </a:xfrm>
          <a:prstGeom prst="rect">
            <a:avLst/>
          </a:prstGeom>
          <a:solidFill>
            <a:srgbClr val="08142E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543800" y="3877056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4A6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LANGUAGE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846320" y="4187952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systems are hard to debug. Strict types surface contract violations at compile time, not at 2am when a production job fails.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846320" y="4809744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8B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Alternatives: Python (type hints), Go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52B50"/>
          </a:solidFill>
          <a:ln w="12700">
            <a:solidFill>
              <a:srgbClr val="152B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74320"/>
            <a:ext cx="5303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5400" b="1" spc="300" kern="0" dirty="0">
                <a:solidFill>
                  <a:srgbClr val="F0F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</a:t>
            </a:r>
            <a:endParaRPr lang="en-US" sz="5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5400" b="1" spc="300" kern="0" dirty="0">
                <a:solidFill>
                  <a:srgbClr val="F0F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TAKEAWAYS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320040" y="14630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every architect should carry out of this briefing.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80760" y="502920"/>
            <a:ext cx="2907792" cy="1005840"/>
          </a:xfrm>
          <a:prstGeom prst="rect">
            <a:avLst/>
          </a:prstGeom>
          <a:solidFill>
            <a:srgbClr val="08142E"/>
          </a:solidFill>
          <a:ln w="1905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080760" y="502920"/>
            <a:ext cx="73152" cy="10058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0" y="54864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47688" y="55778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Graphs, not scripts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17920" y="88696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your agent as a StateGraph. You get checkpointing, resumption, conditional routing, and HITL for free — things that are nearly impossible to bolt onto a linear script.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080760" y="1636776"/>
            <a:ext cx="2907792" cy="1005840"/>
          </a:xfrm>
          <a:prstGeom prst="rect">
            <a:avLst/>
          </a:prstGeom>
          <a:solidFill>
            <a:srgbClr val="08142E"/>
          </a:solidFill>
          <a:ln w="19050">
            <a:solidFill>
              <a:srgbClr val="F5C84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080760" y="1636776"/>
            <a:ext cx="73152" cy="100584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682496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47688" y="169164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 is your contract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0" y="2020824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state first with Zod. It becomes the interface between every node, the schema the checkpointer serialises, and the object the UI reads. One schema, zero drift.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80760" y="2770632"/>
            <a:ext cx="2907792" cy="1005840"/>
          </a:xfrm>
          <a:prstGeom prst="rect">
            <a:avLst/>
          </a:prstGeom>
          <a:solidFill>
            <a:srgbClr val="08142E"/>
          </a:solidFill>
          <a:ln w="19050">
            <a:solidFill>
              <a:srgbClr val="5DADE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2770632"/>
            <a:ext cx="73152" cy="1005840"/>
          </a:xfrm>
          <a:prstGeom prst="rect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281635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DAD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47688" y="282549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Safety is structural, not prompt-based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17920" y="315468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a policy check in the system prompt is fragile. A dedicated Auditor node that reads a versioned POLICY.md file and cycles until the plan complies is auditable and testable.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80760" y="3904488"/>
            <a:ext cx="2907792" cy="1005840"/>
          </a:xfrm>
          <a:prstGeom prst="rect">
            <a:avLst/>
          </a:prstGeom>
          <a:solidFill>
            <a:srgbClr val="08142E"/>
          </a:solidFill>
          <a:ln w="19050">
            <a:solidFill>
              <a:srgbClr val="A8BE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80760" y="3904488"/>
            <a:ext cx="73152" cy="1005840"/>
          </a:xfrm>
          <a:prstGeom prst="rect">
            <a:avLst/>
          </a:prstGeom>
          <a:solidFill>
            <a:srgbClr val="A8BED4"/>
          </a:solidFill>
          <a:ln w="12700">
            <a:solidFill>
              <a:srgbClr val="A8BE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395020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BE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647688" y="395935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Interrupt before consequence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0" y="4288536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action with a side effect (HTTP call, file write, DB mutation) must be preceded by an interrupt checkpoint. This is the architectural equivalent of 'review before merge'.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1920240"/>
            <a:ext cx="5303520" cy="2880360"/>
          </a:xfrm>
          <a:prstGeom prst="rect">
            <a:avLst/>
          </a:prstGeom>
          <a:solidFill>
            <a:srgbClr val="152B50"/>
          </a:solidFill>
          <a:ln w="12700">
            <a:solidFill>
              <a:srgbClr val="4A6FA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38912" y="2121408"/>
            <a:ext cx="5029200" cy="0"/>
          </a:xfrm>
          <a:prstGeom prst="line">
            <a:avLst/>
          </a:prstGeom>
          <a:noFill/>
          <a:ln w="6350">
            <a:solidFill>
              <a:srgbClr val="4A6FA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216712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B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743200" y="216712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 over Scripts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38912" y="2560320"/>
            <a:ext cx="5029200" cy="0"/>
          </a:xfrm>
          <a:prstGeom prst="line">
            <a:avLst/>
          </a:prstGeom>
          <a:noFill/>
          <a:ln w="6350">
            <a:solidFill>
              <a:srgbClr val="4A6FA5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457200" y="26060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B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Principle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743200" y="26060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Interrupt before Consequence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38912" y="2999232"/>
            <a:ext cx="5029200" cy="0"/>
          </a:xfrm>
          <a:prstGeom prst="line">
            <a:avLst/>
          </a:prstGeom>
          <a:noFill/>
          <a:ln w="6350">
            <a:solidFill>
              <a:srgbClr val="4A6FA5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457200" y="304495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B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Principle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743200" y="304495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Schema First, Always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38912" y="3438144"/>
            <a:ext cx="5029200" cy="0"/>
          </a:xfrm>
          <a:prstGeom prst="line">
            <a:avLst/>
          </a:prstGeom>
          <a:noFill/>
          <a:ln w="6350">
            <a:solidFill>
              <a:srgbClr val="4A6FA5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457200" y="348386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B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Principle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743200" y="348386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Auditor in the Loop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38912" y="3877056"/>
            <a:ext cx="5029200" cy="0"/>
          </a:xfrm>
          <a:prstGeom prst="line">
            <a:avLst/>
          </a:prstGeom>
          <a:noFill/>
          <a:ln w="6350">
            <a:solidFill>
              <a:srgbClr val="4A6FA5"/>
            </a:solidFill>
            <a:prstDash val="dash"/>
          </a:ln>
        </p:spPr>
      </p:sp>
      <p:sp>
        <p:nvSpPr>
          <p:cNvPr id="40" name="Text 38"/>
          <p:cNvSpPr/>
          <p:nvPr/>
        </p:nvSpPr>
        <p:spPr>
          <a:xfrm>
            <a:off x="457200" y="392277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B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743200" y="39227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thought is recorded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38912" y="4315968"/>
            <a:ext cx="5029200" cy="0"/>
          </a:xfrm>
          <a:prstGeom prst="line">
            <a:avLst/>
          </a:prstGeom>
          <a:noFill/>
          <a:ln w="6350">
            <a:solidFill>
              <a:srgbClr val="4A6FA5"/>
            </a:solidFill>
            <a:prstDash val="dash"/>
          </a:ln>
        </p:spPr>
      </p:sp>
      <p:sp>
        <p:nvSpPr>
          <p:cNvPr id="43" name="Text 41"/>
          <p:cNvSpPr/>
          <p:nvPr/>
        </p:nvSpPr>
        <p:spPr>
          <a:xfrm>
            <a:off x="457200" y="436168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B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743200" y="436168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Thread ID = session identity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52B50"/>
          </a:solidFill>
          <a:ln w="12700">
            <a:solidFill>
              <a:srgbClr val="152B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DeepTrust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20040" y="128016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F0F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blueprint for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F0F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production-grade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F0F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autonomous systems.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20040" y="2834640"/>
            <a:ext cx="3246120" cy="384048"/>
          </a:xfrm>
          <a:prstGeom prst="rect">
            <a:avLst/>
          </a:prstGeom>
          <a:solidFill>
            <a:srgbClr val="08142E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2834640"/>
            <a:ext cx="3246120" cy="3840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 state.ts  —  schema &amp; helpers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3291840"/>
            <a:ext cx="3246120" cy="384048"/>
          </a:xfrm>
          <a:prstGeom prst="rect">
            <a:avLst/>
          </a:prstGeom>
          <a:solidFill>
            <a:srgbClr val="08142E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3291840"/>
            <a:ext cx="3246120" cy="3840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AD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 graph.ts  —  nodes, edges, routing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3749040"/>
            <a:ext cx="3246120" cy="384048"/>
          </a:xfrm>
          <a:prstGeom prst="rect">
            <a:avLst/>
          </a:prstGeom>
          <a:solidFill>
            <a:srgbClr val="08142E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3749040"/>
            <a:ext cx="3246120" cy="3840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 POLICY.md  —  align agent behaviour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0" y="5486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What's Next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114800" y="12070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🔌  Connect real tools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97680" y="148132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dispatchTool() stubs with Tavily (search), Playwright (web fetch), and a code sandbox.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0" y="1810512"/>
            <a:ext cx="4663440" cy="0"/>
          </a:xfrm>
          <a:prstGeom prst="line">
            <a:avLst/>
          </a:prstGeom>
          <a:noFill/>
          <a:ln w="6350">
            <a:solidFill>
              <a:srgbClr val="4A6FA5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4114800" y="195681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🗄️  Production persistence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297680" y="223113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MemorySaver for PostgresSaver. Every session becomes a durable, queryable audit record.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0" y="2560320"/>
            <a:ext cx="4663440" cy="0"/>
          </a:xfrm>
          <a:prstGeom prst="line">
            <a:avLst/>
          </a:prstGeom>
          <a:noFill/>
          <a:ln w="6350">
            <a:solidFill>
              <a:srgbClr val="4A6FA5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4114800" y="270662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 Streaming UI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297680" y="298094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 state.reasoning updates via Server-Sent Events into a live 'thought process' feed in the Next.js UI.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0" y="3310128"/>
            <a:ext cx="4663440" cy="0"/>
          </a:xfrm>
          <a:prstGeom prst="line">
            <a:avLst/>
          </a:prstGeom>
          <a:noFill/>
          <a:ln w="6350">
            <a:solidFill>
              <a:srgbClr val="4A6FA5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4114800" y="34564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🔒  Policy versioning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297680" y="373075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POLICY.md in git. Changes are reviewed via PR, creating an auditable compliance trail.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0" y="4059936"/>
            <a:ext cx="4663440" cy="0"/>
          </a:xfrm>
          <a:prstGeom prst="line">
            <a:avLst/>
          </a:prstGeom>
          <a:noFill/>
          <a:ln w="6350">
            <a:solidFill>
              <a:srgbClr val="4A6FA5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4114800" y="42062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🧪  Node unit tests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297680" y="448056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node is a pure async function — test thinker, auditor, and synthesizer in isolation with mock state.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2347"/>
          </a:solidFill>
          <a:ln w="12700">
            <a:solidFill>
              <a:srgbClr val="0F234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2880" y="4846320"/>
            <a:ext cx="87782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DeepTrust  ·  Architecture Briefing  ·  Built with LangGraph.js · Zod · Next.js · TypeScript Strict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DeepTrust — Architecture Briefing</dc:title>
  <dc:subject>PptxGenJS Presentation</dc:subject>
  <dc:creator>PptxGenJS</dc:creator>
  <cp:lastModifiedBy>PptxGenJS</cp:lastModifiedBy>
  <cp:revision>1</cp:revision>
  <dcterms:created xsi:type="dcterms:W3CDTF">2026-02-26T18:00:59Z</dcterms:created>
  <dcterms:modified xsi:type="dcterms:W3CDTF">2026-02-26T18:00:59Z</dcterms:modified>
</cp:coreProperties>
</file>